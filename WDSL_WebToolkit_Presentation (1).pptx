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8713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89D09-49DF-6CE8-F8DE-E1D996C37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91F29-0A9D-E948-9E4D-2D8F9DAAE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CA127-1292-DFAD-BB54-D0DC875DC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5E919-D4CC-1968-96F4-4055DC8056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82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A3566">
              <a:alpha val="60000"/>
            </a:srgbClr>
          </a:solidFill>
          <a:ln w="12700">
            <a:solidFill>
              <a:srgbClr val="1A356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89520" y="-457200"/>
            <a:ext cx="2560320" cy="2560320"/>
          </a:xfrm>
          <a:prstGeom prst="ellipse">
            <a:avLst/>
          </a:prstGeom>
          <a:solidFill>
            <a:srgbClr val="0B8FAC">
              <a:alpha val="30000"/>
            </a:srgbClr>
          </a:solidFill>
          <a:ln w="12700">
            <a:solidFill>
              <a:srgbClr val="0B8FA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A3566"/>
          </a:solidFill>
          <a:ln w="12700">
            <a:solidFill>
              <a:srgbClr val="1A35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830068"/>
            <a:ext cx="73152" cy="73152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67560" y="2826512"/>
            <a:ext cx="73152" cy="73152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020060" y="2826512"/>
            <a:ext cx="73152" cy="73152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WDSL WebToolkit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09600" y="2644648"/>
            <a:ext cx="716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Analysis  ·  UX Insights  ·   Collaboration Hub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65696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Web-Based Accessibility and UX Analyzer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Dual User Roles for Web Developers/Designers and Their Clients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4572000" cy="22860"/>
          </a:xfrm>
          <a:prstGeom prst="rect">
            <a:avLst/>
          </a:prstGeom>
          <a:solidFill>
            <a:srgbClr val="0B8FAC">
              <a:alpha val="60000"/>
            </a:srgbClr>
          </a:solidFill>
          <a:ln w="12700">
            <a:solidFill>
              <a:srgbClr val="0B8FA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4622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Naveen Jayawardana</a:t>
            </a: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Final Year Project Proposal   |  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CL/BSCSD/33/163  |  20306073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069080" cy="64008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4568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2091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5124" y="1498210"/>
            <a:ext cx="361539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 and global developers face major web accessibility challenges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1.3 billion people worldwide live with some form of disability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websites fail to meet WCAG 2.2 accessibility standards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are either too technical or too costly for small teams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communication barriers exist between developers and clients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868680"/>
            <a:ext cx="4069080" cy="3657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868680"/>
            <a:ext cx="4069080" cy="64008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23195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186619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of the Project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134312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 between technical developers and business clients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traditional tools with AI Computer Vision for deeper insights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professional accessibility analysis affordable for all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inclusive web experiences and ensures legal compliance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ongoing developer–client collaboration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WDSL WebToolkit  |  Naveen Jayawardana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848868"/>
          </a:xfrm>
          <a:prstGeom prst="rect">
            <a:avLst/>
          </a:prstGeom>
          <a:solidFill>
            <a:srgbClr val="1A3566"/>
          </a:solidFill>
          <a:ln w="19050">
            <a:solidFill>
              <a:srgbClr val="0B8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91440" cy="848868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813816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Lankan web developers and their clients lack an intelligent, affordable, and collaborative platform that provides both detailed technical accessibility reports and clear business-focused insights.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91440" cy="5943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823853"/>
            <a:ext cx="8138160" cy="51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Objective: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 AI-powered web platform that automatically analyzes any website for accessibility and UX issues, serving both technical developers/designers and non-technical clients through a shared collaboration workspace.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" y="2597248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598420"/>
            <a:ext cx="502920" cy="868680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" y="2588455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23544" y="264296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hybrid analysis using rule-based tools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(axe-core, Lighthouse) + PyTorch Computer Vision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27448" y="26060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18304" y="2606040"/>
            <a:ext cx="502920" cy="868680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27448" y="2608502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21808" y="2651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clear, business-impact AI suggestions for non-technical clients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696286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7426" y="3693795"/>
            <a:ext cx="502920" cy="868680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3696286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37490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comprehensive technical reports with highlighted screenshots for developers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18304" y="3705225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27448" y="3705225"/>
            <a:ext cx="502920" cy="868680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27448" y="37033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17236" y="3757686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real-time Collaboration Hub for developers and clients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WDSL WebToolkit  |  Naveen Jayawardana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&amp; METHODOLOGY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WDSL WebToolkit — An AI-Powered Accessibility and UX Analysis Platform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011680" cy="2194560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137160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4173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20040" y="2359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Analysis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2852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axe-core + Google Lighthouse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1188720"/>
            <a:ext cx="2011680" cy="2194560"/>
          </a:xfrm>
          <a:prstGeom prst="rect">
            <a:avLst/>
          </a:prstGeom>
          <a:solidFill>
            <a:srgbClr val="1A3566"/>
          </a:solidFill>
          <a:ln w="12700">
            <a:solidFill>
              <a:srgbClr val="1A3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154680" y="137160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41732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6888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02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468880" y="2359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&amp; Contextual AI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468880" y="2852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Computer Vision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17720" y="1188720"/>
            <a:ext cx="2011680" cy="2194560"/>
          </a:xfrm>
          <a:prstGeom prst="rect">
            <a:avLst/>
          </a:prstGeom>
          <a:solidFill>
            <a:srgbClr val="1A7A8C"/>
          </a:solidFill>
          <a:ln w="12700">
            <a:solidFill>
              <a:srgbClr val="1A7A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303520" y="137160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41732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1772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03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617720" y="2359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Suggestion Generator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617720" y="2852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Insights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766560" y="1188720"/>
            <a:ext cx="2011680" cy="2194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452360" y="137160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417320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6656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04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766560" y="2359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Hub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766560" y="2852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Workspace for Teams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0040" y="3547872"/>
            <a:ext cx="8503920" cy="201168"/>
          </a:xfrm>
          <a:prstGeom prst="rect">
            <a:avLst/>
          </a:prstGeom>
          <a:solidFill>
            <a:srgbClr val="E0EAF4"/>
          </a:solidFill>
          <a:ln w="12700">
            <a:solidFill>
              <a:srgbClr val="E0E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320040" y="35478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20040" y="3785616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06908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58012" y="3803904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CSS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2468880" y="3785616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849624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060192" y="3803904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4617720" y="3785616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1080" y="4062984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300472" y="3834384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6766560" y="3785616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6392" y="4079748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441692" y="3842004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axe-core · Lighthouse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4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WDSL WebToolkit  |  Naveen Jayawardana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TIMELINE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1480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14800" cy="64008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52728"/>
            <a:ext cx="322838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216152"/>
            <a:ext cx="32283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Benefits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94360" y="1740878"/>
            <a:ext cx="3661117" cy="2235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responsive web application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PyTorch Computer Vision model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dataset of labeled website screenshots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collaboration between developers and clients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accessibility solution for freelancers and SMEs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web inclusivity and WCAG 2.2 compliance in Sri Lanka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804672"/>
            <a:ext cx="4114800" cy="37673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09160" y="804672"/>
            <a:ext cx="4114800" cy="64008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7899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1808" y="10424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956048" y="1691640"/>
            <a:ext cx="201168" cy="201168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042916" y="1956308"/>
            <a:ext cx="18288" cy="274320"/>
          </a:xfrm>
          <a:prstGeom prst="rect">
            <a:avLst/>
          </a:prstGeom>
          <a:solidFill>
            <a:srgbClr val="0B8FAC">
              <a:alpha val="50000"/>
            </a:srgbClr>
          </a:solidFill>
          <a:ln w="12700">
            <a:solidFill>
              <a:srgbClr val="0B8FA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257800" y="157276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Proposal</a:t>
            </a:r>
            <a:endParaRPr lang="en-US" sz="1150" dirty="0"/>
          </a:p>
          <a:p>
            <a:pPr marL="0" indent="0">
              <a:buNone/>
            </a:pPr>
            <a:r>
              <a:rPr lang="en-US" sz="1050" i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956048" y="2276856"/>
            <a:ext cx="201168" cy="201168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042916" y="2532888"/>
            <a:ext cx="18288" cy="274320"/>
          </a:xfrm>
          <a:prstGeom prst="rect">
            <a:avLst/>
          </a:prstGeom>
          <a:solidFill>
            <a:srgbClr val="0B8FAC">
              <a:alpha val="50000"/>
            </a:srgbClr>
          </a:solidFill>
          <a:ln w="12700">
            <a:solidFill>
              <a:srgbClr val="0B8FA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257800" y="2157984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Data Collection</a:t>
            </a:r>
            <a:endParaRPr lang="en-US" sz="1150" dirty="0"/>
          </a:p>
          <a:p>
            <a:pPr marL="0" indent="0">
              <a:buNone/>
            </a:pPr>
            <a:r>
              <a:rPr lang="en-US" sz="1050" i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– June 2026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960620" y="2880360"/>
            <a:ext cx="201168" cy="201168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042916" y="3118104"/>
            <a:ext cx="18288" cy="274320"/>
          </a:xfrm>
          <a:prstGeom prst="rect">
            <a:avLst/>
          </a:prstGeom>
          <a:solidFill>
            <a:srgbClr val="0B8FAC">
              <a:alpha val="50000"/>
            </a:srgbClr>
          </a:solidFill>
          <a:ln w="12700">
            <a:solidFill>
              <a:srgbClr val="0B8FA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257800" y="2743200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Development</a:t>
            </a:r>
            <a:endParaRPr lang="en-US" sz="1150" dirty="0"/>
          </a:p>
          <a:p>
            <a:pPr marL="0" indent="0">
              <a:buNone/>
            </a:pPr>
            <a:r>
              <a:rPr lang="en-US" sz="1050" i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– July 2026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951476" y="3429000"/>
            <a:ext cx="201168" cy="201168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042916" y="3689604"/>
            <a:ext cx="18288" cy="274320"/>
          </a:xfrm>
          <a:prstGeom prst="rect">
            <a:avLst/>
          </a:prstGeom>
          <a:solidFill>
            <a:srgbClr val="0B8FAC">
              <a:alpha val="50000"/>
            </a:srgbClr>
          </a:solidFill>
          <a:ln w="12700">
            <a:solidFill>
              <a:srgbClr val="0B8FA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257800" y="3328416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Development</a:t>
            </a:r>
            <a:endParaRPr lang="en-US" sz="1150" dirty="0"/>
          </a:p>
          <a:p>
            <a:pPr marL="0" indent="0">
              <a:buNone/>
            </a:pPr>
            <a:r>
              <a:rPr lang="en-US" sz="1050" i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– August 2026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956048" y="4032504"/>
            <a:ext cx="201168" cy="201168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257800" y="3913632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Documentation</a:t>
            </a:r>
            <a:endParaRPr lang="en-US" sz="1150" dirty="0"/>
          </a:p>
          <a:p>
            <a:pPr marL="0" indent="0">
              <a:buNone/>
            </a:pPr>
            <a:r>
              <a:rPr lang="en-US" sz="1050" i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WDSL WebToolkit  |  Naveen Jayawardana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CE7DE1-587F-96A5-4C72-BA506FAFD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50790E-CFDC-BB9F-AC23-367C64A42200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7C053EF-0A62-C852-DEE9-8CC108A1DE12}"/>
              </a:ext>
            </a:extLst>
          </p:cNvPr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A3566"/>
          </a:solidFill>
          <a:ln w="12700">
            <a:solidFill>
              <a:srgbClr val="1A35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CDD8265-2ED9-A3CB-1069-1948E1B243D2}"/>
              </a:ext>
            </a:extLst>
          </p:cNvPr>
          <p:cNvSpPr/>
          <p:nvPr/>
        </p:nvSpPr>
        <p:spPr>
          <a:xfrm>
            <a:off x="457200" y="2830068"/>
            <a:ext cx="73152" cy="73152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17D6D92-ABEB-1FB8-FB63-C1784D91E3AD}"/>
              </a:ext>
            </a:extLst>
          </p:cNvPr>
          <p:cNvSpPr/>
          <p:nvPr/>
        </p:nvSpPr>
        <p:spPr>
          <a:xfrm>
            <a:off x="2057400" y="2826512"/>
            <a:ext cx="73152" cy="73152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730F58B-1149-AF0E-9E4E-A8E2CEAA0FE9}"/>
              </a:ext>
            </a:extLst>
          </p:cNvPr>
          <p:cNvSpPr/>
          <p:nvPr/>
        </p:nvSpPr>
        <p:spPr>
          <a:xfrm>
            <a:off x="3020060" y="2826512"/>
            <a:ext cx="73152" cy="73152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3B0F8BD-4E71-B005-6DAA-35B02BACE0DD}"/>
              </a:ext>
            </a:extLst>
          </p:cNvPr>
          <p:cNvSpPr/>
          <p:nvPr/>
        </p:nvSpPr>
        <p:spPr>
          <a:xfrm>
            <a:off x="457200" y="731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B0DE89D-A8DF-4CC6-E1E6-E7B64928B852}"/>
              </a:ext>
            </a:extLst>
          </p:cNvPr>
          <p:cNvSpPr/>
          <p:nvPr/>
        </p:nvSpPr>
        <p:spPr>
          <a:xfrm>
            <a:off x="457200" y="1737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Web-Based Accessibility and UX Analyzer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Dual User Roles for Web Developers/Designers and Their Clients</a:t>
            </a:r>
            <a:endParaRPr lang="en-US" sz="13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1F8E048-97A1-4226-4162-870050E68729}"/>
              </a:ext>
            </a:extLst>
          </p:cNvPr>
          <p:cNvSpPr/>
          <p:nvPr/>
        </p:nvSpPr>
        <p:spPr>
          <a:xfrm>
            <a:off x="609600" y="2651760"/>
            <a:ext cx="716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Analysis  ·  UX Insights  ·  Collaboration Hub</a:t>
            </a:r>
            <a:endParaRPr lang="en-US" sz="13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37A097D-3862-04B9-FCA7-6EE055228CB4}"/>
              </a:ext>
            </a:extLst>
          </p:cNvPr>
          <p:cNvSpPr/>
          <p:nvPr/>
        </p:nvSpPr>
        <p:spPr>
          <a:xfrm>
            <a:off x="457200" y="3200400"/>
            <a:ext cx="4572000" cy="22860"/>
          </a:xfrm>
          <a:prstGeom prst="rect">
            <a:avLst/>
          </a:prstGeom>
          <a:solidFill>
            <a:srgbClr val="0B8FAC">
              <a:alpha val="60000"/>
            </a:srgbClr>
          </a:solidFill>
          <a:ln w="12700">
            <a:solidFill>
              <a:srgbClr val="0B8FA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7E67A7E-08DE-2D0E-6E48-1386F940938F}"/>
              </a:ext>
            </a:extLst>
          </p:cNvPr>
          <p:cNvSpPr/>
          <p:nvPr/>
        </p:nvSpPr>
        <p:spPr>
          <a:xfrm>
            <a:off x="457200" y="44622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Naveen Jayawardana</a:t>
            </a: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Final Year Project Proposal   |   2026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436C331-BA71-28D3-A358-9D861ABE9DEA}"/>
              </a:ext>
            </a:extLst>
          </p:cNvPr>
          <p:cNvSpPr/>
          <p:nvPr/>
        </p:nvSpPr>
        <p:spPr>
          <a:xfrm>
            <a:off x="45720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CL/BSCSD/33/163  |  20306073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01346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484</Words>
  <Application>Microsoft Office PowerPoint</Application>
  <PresentationFormat>On-screen Show (16:9)</PresentationFormat>
  <Paragraphs>90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WDSL WebToolkit</dc:title>
  <dc:subject>PptxGenJS Presentation</dc:subject>
  <dc:creator>Naveen Jayawardana</dc:creator>
  <cp:lastModifiedBy>Naveen Jayawardana</cp:lastModifiedBy>
  <cp:revision>9</cp:revision>
  <dcterms:created xsi:type="dcterms:W3CDTF">2026-05-18T11:40:04Z</dcterms:created>
  <dcterms:modified xsi:type="dcterms:W3CDTF">2026-05-28T06:28:10Z</dcterms:modified>
</cp:coreProperties>
</file>